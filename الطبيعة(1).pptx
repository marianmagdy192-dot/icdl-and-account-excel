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6" d="100"/>
          <a:sy n="76" d="100"/>
        </p:scale>
        <p:origin x="94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3513-C7F0-8F2B-512E-AC660EB1F0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EF1A80-7606-7EB3-06A3-741B013210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59424-E852-C022-84AB-0E1583D49542}"/>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751F728B-A652-D626-BA41-88BF21A54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007AE7-B953-2D28-0F57-5A687CE6D632}"/>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169543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DC487-0BDD-71FF-4289-3526CFF72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3CD5B0-FD36-3239-CE01-40D980C82C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7E68C-2336-E40B-A4B4-B824D51282AD}"/>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78A4DDC3-3178-B6DF-3061-CAEC9920E2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63C467-4D1C-398A-2D53-43E3B1E8CC61}"/>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3400085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C4A8C-6AE1-8C85-70DB-0E351EC8AC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8CF2F6-3F00-E6A1-84A9-7F0796D58A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27DDDA-B868-8BD8-9490-539BA9D89145}"/>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23566869-CEF1-E0DA-8C1D-84A3CB514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E229B-8E0E-5E03-10E6-8959DFECD388}"/>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1336522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B11F-6D08-A714-0CE1-9EDF3AFA31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0E83AA-0ED5-EE52-A8CF-583B97F0E0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BB7249-0FBF-0B11-6297-A866F09158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5AC80A-578E-D7FD-53E8-715F28806754}"/>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6" name="Footer Placeholder 5">
            <a:extLst>
              <a:ext uri="{FF2B5EF4-FFF2-40B4-BE49-F238E27FC236}">
                <a16:creationId xmlns:a16="http://schemas.microsoft.com/office/drawing/2014/main" id="{0AE0B0D3-50C6-EDDC-4DF4-914BF1933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EEE92A-B1EB-9B4F-81F9-3F04516788B3}"/>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2053361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274EE-F856-9854-9F06-4820EF7C6C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26A0F5-5613-F628-D732-AD887F8CDF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1B45B4-2AC1-CBB8-7DEC-C56349EED0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C137B3-E85C-0A7F-BAE6-0220B0EB29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EBD1C7-481F-7CB0-AB1C-6532C3A717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E0D5A4-C38E-17AC-F2CF-2F121449751A}"/>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8" name="Footer Placeholder 7">
            <a:extLst>
              <a:ext uri="{FF2B5EF4-FFF2-40B4-BE49-F238E27FC236}">
                <a16:creationId xmlns:a16="http://schemas.microsoft.com/office/drawing/2014/main" id="{EE5E9FAF-EBEF-5860-6B30-A3F5C851CD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89C3BD-A673-03E7-0385-9C701071A139}"/>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3799946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AB95-DA3B-BCD4-BE05-1F97F471A7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B0B998-8B4E-5CA1-4BBB-5C4433C4962F}"/>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4" name="Footer Placeholder 3">
            <a:extLst>
              <a:ext uri="{FF2B5EF4-FFF2-40B4-BE49-F238E27FC236}">
                <a16:creationId xmlns:a16="http://schemas.microsoft.com/office/drawing/2014/main" id="{4F674E07-0DCD-5D65-7CFD-B951E9ADA5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4D2B7D-B9FD-8F86-29CA-ACC6D4A3B1C6}"/>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1921276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1D54B9-39F9-7016-A062-3BA055C00825}"/>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3" name="Footer Placeholder 2">
            <a:extLst>
              <a:ext uri="{FF2B5EF4-FFF2-40B4-BE49-F238E27FC236}">
                <a16:creationId xmlns:a16="http://schemas.microsoft.com/office/drawing/2014/main" id="{D614024B-E689-0EA5-180C-A07B2AB392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4C2EBE-97E4-7AC8-0C27-ED804BC6A699}"/>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317376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211A-5F11-D51F-47E6-760D64599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011CAE-8FFE-67F4-D2C6-55C919682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93435B-5D81-4373-A488-94C3124F4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274394-6C0A-9EFE-F7AF-F235A6CF1DFB}"/>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6" name="Footer Placeholder 5">
            <a:extLst>
              <a:ext uri="{FF2B5EF4-FFF2-40B4-BE49-F238E27FC236}">
                <a16:creationId xmlns:a16="http://schemas.microsoft.com/office/drawing/2014/main" id="{722CDB81-4778-2844-F38B-A76949BF79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62EB23-C495-9A45-47B7-2A158AB60E05}"/>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280350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6E53D-554C-91FD-4605-2174AFD47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3ED016-BBC4-AE14-99D7-CB1624B06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28C913-E932-8FC0-4E02-0B3EBC4A3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947263-1C8E-BD2F-A28B-156129C92C1C}"/>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6" name="Footer Placeholder 5">
            <a:extLst>
              <a:ext uri="{FF2B5EF4-FFF2-40B4-BE49-F238E27FC236}">
                <a16:creationId xmlns:a16="http://schemas.microsoft.com/office/drawing/2014/main" id="{3E46715A-1EC7-D67D-F7E2-FAF7840FA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38DB5-8548-66E0-EA06-EEF0BA14DAB7}"/>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2903136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226F9-0287-8842-5499-0AFEC3F5C7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92C4F8-D8A9-6938-F5C4-4D799FAE87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7B6A7-6570-7351-6FE9-5BCF7264B3D8}"/>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671E87CE-293E-3999-B1CD-486AC1701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13A6A-5739-AFDE-5933-07D3F6592301}"/>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3535929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6714F9-C357-0C76-5C87-E3767F09DD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2B90F7-1E19-B271-53CE-4F11EEADEC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6A15F-BCE5-8F8E-DF1F-44606D850BBD}"/>
              </a:ext>
            </a:extLst>
          </p:cNvPr>
          <p:cNvSpPr>
            <a:spLocks noGrp="1"/>
          </p:cNvSpPr>
          <p:nvPr>
            <p:ph type="dt" sz="half" idx="10"/>
          </p:nvPr>
        </p:nvSpPr>
        <p:spPr/>
        <p:txBody>
          <a:body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C1220642-F841-2014-DBAB-E892F0E17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C720C6-9DF8-C1AE-BF0E-9313FA33B3F3}"/>
              </a:ext>
            </a:extLst>
          </p:cNvPr>
          <p:cNvSpPr>
            <a:spLocks noGrp="1"/>
          </p:cNvSpPr>
          <p:nvPr>
            <p:ph type="sldNum" sz="quarter" idx="12"/>
          </p:nvPr>
        </p:nvSpPr>
        <p:spPr/>
        <p:txBody>
          <a:bodyPr/>
          <a:lstStyle/>
          <a:p>
            <a:fld id="{73CF21B9-00E9-4821-B398-39CA043C5AA7}" type="slidenum">
              <a:rPr lang="en-US" smtClean="0"/>
              <a:t>‹#›</a:t>
            </a:fld>
            <a:endParaRPr lang="en-US"/>
          </a:p>
        </p:txBody>
      </p:sp>
    </p:spTree>
    <p:extLst>
      <p:ext uri="{BB962C8B-B14F-4D97-AF65-F5344CB8AC3E}">
        <p14:creationId xmlns:p14="http://schemas.microsoft.com/office/powerpoint/2010/main" val="1814445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203B39-E20D-3ABC-EF49-2A7115DA15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F47C80-B38E-6D91-53F7-18267102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E65040-E5C7-B552-E3A9-C349560B27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AE3EBA-6FDF-4ABA-A217-508A1D59D253}" type="datetimeFigureOut">
              <a:rPr lang="en-US" smtClean="0"/>
              <a:t>3/23/2026</a:t>
            </a:fld>
            <a:endParaRPr lang="en-US"/>
          </a:p>
        </p:txBody>
      </p:sp>
      <p:sp>
        <p:nvSpPr>
          <p:cNvPr id="5" name="Footer Placeholder 4">
            <a:extLst>
              <a:ext uri="{FF2B5EF4-FFF2-40B4-BE49-F238E27FC236}">
                <a16:creationId xmlns:a16="http://schemas.microsoft.com/office/drawing/2014/main" id="{7A54B949-A635-68D2-44EE-EBDB937B4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1A5B70-6764-D62F-C78D-64A9FABFC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CF21B9-00E9-4821-B398-39CA043C5AA7}" type="slidenum">
              <a:rPr lang="en-US" smtClean="0"/>
              <a:t>‹#›</a:t>
            </a:fld>
            <a:endParaRPr lang="en-US"/>
          </a:p>
        </p:txBody>
      </p:sp>
    </p:spTree>
    <p:extLst>
      <p:ext uri="{BB962C8B-B14F-4D97-AF65-F5344CB8AC3E}">
        <p14:creationId xmlns:p14="http://schemas.microsoft.com/office/powerpoint/2010/main" val="1402020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Sforza Castle Milan in autumn">
            <a:extLst>
              <a:ext uri="{FF2B5EF4-FFF2-40B4-BE49-F238E27FC236}">
                <a16:creationId xmlns:a16="http://schemas.microsoft.com/office/drawing/2014/main" id="{A5167CE6-4BFA-6544-D0B6-4C2EEE3D642C}"/>
              </a:ext>
            </a:extLst>
          </p:cNvPr>
          <p:cNvPicPr>
            <a:picLocks noChangeAspect="1"/>
          </p:cNvPicPr>
          <p:nvPr/>
        </p:nvPicPr>
        <p:blipFill>
          <a:blip r:embed="rId2">
            <a:extLst>
              <a:ext uri="{28A0092B-C50C-407E-A947-70E740481C1C}">
                <a14:useLocalDpi xmlns:a14="http://schemas.microsoft.com/office/drawing/2010/main" val="0"/>
              </a:ext>
            </a:extLst>
          </a:blip>
          <a:srcRect t="12239" b="568"/>
          <a:stretch>
            <a:fillRect/>
          </a:stretch>
        </p:blipFill>
        <p:spPr>
          <a:xfrm>
            <a:off x="20" y="1282"/>
            <a:ext cx="12191980" cy="6856718"/>
          </a:xfrm>
          <a:prstGeom prst="rect">
            <a:avLst/>
          </a:prstGeom>
        </p:spPr>
      </p:pic>
      <p:sp>
        <p:nvSpPr>
          <p:cNvPr id="7" name="TextBox 6">
            <a:extLst>
              <a:ext uri="{FF2B5EF4-FFF2-40B4-BE49-F238E27FC236}">
                <a16:creationId xmlns:a16="http://schemas.microsoft.com/office/drawing/2014/main" id="{15543646-D5DC-22D9-6428-D0BCAFAA16DE}"/>
              </a:ext>
            </a:extLst>
          </p:cNvPr>
          <p:cNvSpPr txBox="1"/>
          <p:nvPr/>
        </p:nvSpPr>
        <p:spPr>
          <a:xfrm rot="10800000" flipH="1" flipV="1">
            <a:off x="4376054" y="170910"/>
            <a:ext cx="2834642" cy="1323439"/>
          </a:xfrm>
          <a:prstGeom prst="rect">
            <a:avLst/>
          </a:prstGeom>
          <a:noFill/>
          <a:effectLst>
            <a:glow rad="63500">
              <a:schemeClr val="accent6">
                <a:satMod val="175000"/>
                <a:alpha val="40000"/>
              </a:schemeClr>
            </a:glow>
          </a:effectLst>
        </p:spPr>
        <p:txBody>
          <a:bodyPr wrap="square" rtlCol="0">
            <a:spAutoFit/>
          </a:bodyPr>
          <a:lstStyle/>
          <a:p>
            <a:pPr algn="ctr"/>
            <a:r>
              <a:rPr lang="ar-EG" sz="8000" b="1" dirty="0">
                <a:ln w="22225">
                  <a:solidFill>
                    <a:schemeClr val="accent2"/>
                  </a:solidFill>
                  <a:prstDash val="solid"/>
                </a:ln>
                <a:solidFill>
                  <a:schemeClr val="accent2">
                    <a:lumMod val="40000"/>
                    <a:lumOff val="60000"/>
                  </a:schemeClr>
                </a:solidFill>
              </a:rPr>
              <a:t>الطبيعة</a:t>
            </a:r>
            <a:endParaRPr lang="en-US" sz="8000" b="1" dirty="0"/>
          </a:p>
        </p:txBody>
      </p:sp>
    </p:spTree>
    <p:extLst>
      <p:ext uri="{BB962C8B-B14F-4D97-AF65-F5344CB8AC3E}">
        <p14:creationId xmlns:p14="http://schemas.microsoft.com/office/powerpoint/2010/main" val="1064099818"/>
      </p:ext>
    </p:extLst>
  </p:cSld>
  <p:clrMapOvr>
    <a:masterClrMapping/>
  </p:clrMapOvr>
  <mc:AlternateContent xmlns:mc="http://schemas.openxmlformats.org/markup-compatibility/2006">
    <mc:Choice xmlns:p14="http://schemas.microsoft.com/office/powerpoint/2010/main" Requires="p14">
      <p:transition spd="med" p14:dur="700" advClick="0" advTm="2000">
        <p:fade/>
      </p:transition>
    </mc:Choice>
    <mc:Fallback>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B981A1C0-07F1-54BF-F7FB-C2805A8023E9}"/>
              </a:ext>
            </a:extLst>
          </p:cNvPr>
          <p:cNvPicPr>
            <a:picLocks noChangeAspect="1"/>
          </p:cNvPicPr>
          <p:nvPr/>
        </p:nvPicPr>
        <p:blipFill>
          <a:blip r:embed="rId2"/>
          <a:srcRect r="425" b="-1"/>
          <a:stretch>
            <a:fillRect/>
          </a:stretch>
        </p:blipFill>
        <p:spPr>
          <a:xfrm>
            <a:off x="20" y="1282"/>
            <a:ext cx="12191980" cy="6856718"/>
          </a:xfrm>
          <a:prstGeom prst="rect">
            <a:avLst/>
          </a:prstGeom>
        </p:spPr>
      </p:pic>
      <p:sp>
        <p:nvSpPr>
          <p:cNvPr id="28" name="TextBox 27">
            <a:extLst>
              <a:ext uri="{FF2B5EF4-FFF2-40B4-BE49-F238E27FC236}">
                <a16:creationId xmlns:a16="http://schemas.microsoft.com/office/drawing/2014/main" id="{959AF32F-91AC-4FA5-505A-5029B8C66F84}"/>
              </a:ext>
            </a:extLst>
          </p:cNvPr>
          <p:cNvSpPr txBox="1"/>
          <p:nvPr/>
        </p:nvSpPr>
        <p:spPr>
          <a:xfrm>
            <a:off x="0" y="0"/>
            <a:ext cx="12204000" cy="6858000"/>
          </a:xfrm>
          <a:prstGeom prst="rect">
            <a:avLst/>
          </a:prstGeom>
          <a:solidFill>
            <a:schemeClr val="accent4">
              <a:alpha val="50000"/>
            </a:schemeClr>
          </a:solidFill>
          <a:ln>
            <a:noFill/>
          </a:ln>
          <a:effectLst>
            <a:glow rad="101600">
              <a:schemeClr val="accent1">
                <a:satMod val="175000"/>
                <a:alpha val="40000"/>
              </a:schemeClr>
            </a:glow>
          </a:effectLst>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29" name="TextBox 28">
            <a:extLst>
              <a:ext uri="{FF2B5EF4-FFF2-40B4-BE49-F238E27FC236}">
                <a16:creationId xmlns:a16="http://schemas.microsoft.com/office/drawing/2014/main" id="{3F0F31FB-8FD0-FE9F-D756-2CBF1B648592}"/>
              </a:ext>
            </a:extLst>
          </p:cNvPr>
          <p:cNvSpPr txBox="1"/>
          <p:nvPr/>
        </p:nvSpPr>
        <p:spPr>
          <a:xfrm>
            <a:off x="2286763" y="-207263"/>
            <a:ext cx="9917999" cy="7663636"/>
          </a:xfrm>
          <a:prstGeom prst="rect">
            <a:avLst/>
          </a:prstGeom>
          <a:noFill/>
        </p:spPr>
        <p:txBody>
          <a:bodyPr wrap="square" rtlCol="0">
            <a:spAutoFit/>
          </a:bodyPr>
          <a:lstStyle/>
          <a:p>
            <a:pPr algn="r"/>
            <a:r>
              <a:rPr lang="ar-EG" sz="9600" b="1" dirty="0"/>
              <a:t>1</a:t>
            </a:r>
            <a:r>
              <a:rPr lang="ar-EG" sz="13800" b="1" dirty="0"/>
              <a:t>.</a:t>
            </a:r>
            <a:r>
              <a:rPr lang="ar-EG" sz="11500" b="1" dirty="0"/>
              <a:t>أهمية الطبيعة</a:t>
            </a:r>
          </a:p>
          <a:p>
            <a:pPr algn="r" rtl="1">
              <a:buFont typeface="Arial" panose="020B0604020202020204" pitchFamily="34" charset="0"/>
              <a:buChar char="•"/>
            </a:pPr>
            <a:r>
              <a:rPr lang="ar-EG" sz="7200" dirty="0"/>
              <a:t>توفر لنا الأكسجين الذي نتنفسه </a:t>
            </a:r>
          </a:p>
          <a:p>
            <a:pPr algn="r" rtl="1">
              <a:buFont typeface="Arial" panose="020B0604020202020204" pitchFamily="34" charset="0"/>
              <a:buChar char="•"/>
            </a:pPr>
            <a:r>
              <a:rPr lang="ar-EG" sz="7200" dirty="0"/>
              <a:t>تمدنا بالغذاء والماء </a:t>
            </a:r>
          </a:p>
          <a:p>
            <a:pPr algn="r" rtl="1">
              <a:buFont typeface="Arial" panose="020B0604020202020204" pitchFamily="34" charset="0"/>
              <a:buChar char="•"/>
            </a:pPr>
            <a:r>
              <a:rPr lang="ar-EG" sz="7200" dirty="0"/>
              <a:t>تحافظ على التوازن البيئي </a:t>
            </a:r>
          </a:p>
          <a:p>
            <a:pPr algn="r" rtl="1">
              <a:buFont typeface="Arial" panose="020B0604020202020204" pitchFamily="34" charset="0"/>
              <a:buChar char="•"/>
            </a:pPr>
            <a:r>
              <a:rPr lang="ar-EG" sz="7200" dirty="0"/>
              <a:t>تمنحنا الراحة النفسية </a:t>
            </a:r>
          </a:p>
          <a:p>
            <a:pPr algn="r"/>
            <a:endParaRPr lang="ar-EG" sz="6600" dirty="0"/>
          </a:p>
        </p:txBody>
      </p:sp>
    </p:spTree>
    <p:extLst>
      <p:ext uri="{BB962C8B-B14F-4D97-AF65-F5344CB8AC3E}">
        <p14:creationId xmlns:p14="http://schemas.microsoft.com/office/powerpoint/2010/main" val="26726428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anim calcmode="lin" valueType="num">
                                      <p:cBhvr additive="base">
                                        <p:cTn id="13" dur="500" fill="hold"/>
                                        <p:tgtEl>
                                          <p:spTgt spid="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 calcmode="lin" valueType="num">
                                      <p:cBhvr additive="base">
                                        <p:cTn id="17" dur="500" fill="hold"/>
                                        <p:tgtEl>
                                          <p:spTgt spid="2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
                                            <p:txEl>
                                              <p:pRg st="3" end="3"/>
                                            </p:txEl>
                                          </p:spTgt>
                                        </p:tgtEl>
                                        <p:attrNameLst>
                                          <p:attrName>style.visibility</p:attrName>
                                        </p:attrNameLst>
                                      </p:cBhvr>
                                      <p:to>
                                        <p:strVal val="visible"/>
                                      </p:to>
                                    </p:set>
                                    <p:anim calcmode="lin" valueType="num">
                                      <p:cBhvr additive="base">
                                        <p:cTn id="21" dur="500" fill="hold"/>
                                        <p:tgtEl>
                                          <p:spTgt spid="2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9">
                                            <p:txEl>
                                              <p:pRg st="4" end="4"/>
                                            </p:txEl>
                                          </p:spTgt>
                                        </p:tgtEl>
                                        <p:attrNameLst>
                                          <p:attrName>style.visibility</p:attrName>
                                        </p:attrNameLst>
                                      </p:cBhvr>
                                      <p:to>
                                        <p:strVal val="visible"/>
                                      </p:to>
                                    </p:set>
                                    <p:anim calcmode="lin" valueType="num">
                                      <p:cBhvr additive="base">
                                        <p:cTn id="25" dur="500" fill="hold"/>
                                        <p:tgtEl>
                                          <p:spTgt spid="2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BBDAD2-D98B-DAB9-A702-E2671A529F5E}"/>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94297AC1-E418-EAEB-670A-8631258CA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5506671F-9A3B-D90C-D599-3F43BBB2170E}"/>
              </a:ext>
            </a:extLst>
          </p:cNvPr>
          <p:cNvPicPr>
            <a:picLocks noChangeAspect="1"/>
          </p:cNvPicPr>
          <p:nvPr/>
        </p:nvPicPr>
        <p:blipFill>
          <a:blip r:embed="rId2"/>
          <a:srcRect l="439" t="19" r="56028" b="-21"/>
          <a:stretch>
            <a:fillRect/>
          </a:stretch>
        </p:blipFill>
        <p:spPr>
          <a:xfrm>
            <a:off x="20" y="0"/>
            <a:ext cx="12191980" cy="6856718"/>
          </a:xfrm>
          <a:prstGeom prst="rect">
            <a:avLst/>
          </a:prstGeom>
        </p:spPr>
      </p:pic>
      <p:sp>
        <p:nvSpPr>
          <p:cNvPr id="5" name="TextBox 4">
            <a:extLst>
              <a:ext uri="{FF2B5EF4-FFF2-40B4-BE49-F238E27FC236}">
                <a16:creationId xmlns:a16="http://schemas.microsoft.com/office/drawing/2014/main" id="{688B9364-662B-812A-487B-5A2D110130D2}"/>
              </a:ext>
            </a:extLst>
          </p:cNvPr>
          <p:cNvSpPr txBox="1"/>
          <p:nvPr/>
        </p:nvSpPr>
        <p:spPr>
          <a:xfrm>
            <a:off x="0" y="-1282"/>
            <a:ext cx="12192000" cy="685800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6" name="TextBox 5">
            <a:extLst>
              <a:ext uri="{FF2B5EF4-FFF2-40B4-BE49-F238E27FC236}">
                <a16:creationId xmlns:a16="http://schemas.microsoft.com/office/drawing/2014/main" id="{01011851-F1D9-4583-2412-BD47FC74CC4B}"/>
              </a:ext>
            </a:extLst>
          </p:cNvPr>
          <p:cNvSpPr txBox="1"/>
          <p:nvPr/>
        </p:nvSpPr>
        <p:spPr>
          <a:xfrm>
            <a:off x="0" y="89210"/>
            <a:ext cx="12099073" cy="6986528"/>
          </a:xfrm>
          <a:prstGeom prst="rect">
            <a:avLst/>
          </a:prstGeom>
          <a:noFill/>
        </p:spPr>
        <p:txBody>
          <a:bodyPr wrap="square" rtlCol="0">
            <a:spAutoFit/>
          </a:bodyPr>
          <a:lstStyle/>
          <a:p>
            <a:pPr algn="r" rtl="1">
              <a:buNone/>
            </a:pPr>
            <a:r>
              <a:rPr lang="ar-EG" sz="8000" b="1" dirty="0"/>
              <a:t>2. مظاهر الطبيعة:</a:t>
            </a:r>
            <a:endParaRPr lang="ar-EG" sz="8000" dirty="0"/>
          </a:p>
          <a:p>
            <a:pPr algn="r" rtl="1">
              <a:buFont typeface="Arial" panose="020B0604020202020204" pitchFamily="34" charset="0"/>
              <a:buChar char="•"/>
            </a:pPr>
            <a:r>
              <a:rPr lang="ar-EG" sz="7200" dirty="0"/>
              <a:t>الجبال </a:t>
            </a:r>
          </a:p>
          <a:p>
            <a:pPr algn="r" rtl="1">
              <a:buFont typeface="Arial" panose="020B0604020202020204" pitchFamily="34" charset="0"/>
              <a:buChar char="•"/>
            </a:pPr>
            <a:r>
              <a:rPr lang="ar-EG" sz="7200" dirty="0"/>
              <a:t>الأنهار </a:t>
            </a:r>
          </a:p>
          <a:p>
            <a:pPr algn="r" rtl="1">
              <a:buFont typeface="Arial" panose="020B0604020202020204" pitchFamily="34" charset="0"/>
              <a:buChar char="•"/>
            </a:pPr>
            <a:r>
              <a:rPr lang="ar-EG" sz="7200" dirty="0"/>
              <a:t>البحار </a:t>
            </a:r>
          </a:p>
          <a:p>
            <a:pPr algn="r" rtl="1">
              <a:buFont typeface="Arial" panose="020B0604020202020204" pitchFamily="34" charset="0"/>
              <a:buChar char="•"/>
            </a:pPr>
            <a:r>
              <a:rPr lang="ar-EG" sz="7200" dirty="0"/>
              <a:t>الغابات </a:t>
            </a:r>
          </a:p>
          <a:p>
            <a:pPr algn="r" rtl="1">
              <a:buFont typeface="Arial" panose="020B0604020202020204" pitchFamily="34" charset="0"/>
              <a:buChar char="•"/>
            </a:pPr>
            <a:r>
              <a:rPr lang="ar-EG" sz="7200" dirty="0"/>
              <a:t>الصحارى</a:t>
            </a:r>
          </a:p>
        </p:txBody>
      </p:sp>
      <p:pic>
        <p:nvPicPr>
          <p:cNvPr id="10" name="Picture 9">
            <a:extLst>
              <a:ext uri="{FF2B5EF4-FFF2-40B4-BE49-F238E27FC236}">
                <a16:creationId xmlns:a16="http://schemas.microsoft.com/office/drawing/2014/main" id="{F14E6E5F-235B-E420-441D-F17F2424AD43}"/>
              </a:ext>
            </a:extLst>
          </p:cNvPr>
          <p:cNvPicPr>
            <a:picLocks noChangeAspect="1"/>
          </p:cNvPicPr>
          <p:nvPr/>
        </p:nvPicPr>
        <p:blipFill>
          <a:blip r:embed="rId3"/>
          <a:stretch>
            <a:fillRect/>
          </a:stretch>
        </p:blipFill>
        <p:spPr>
          <a:xfrm>
            <a:off x="1" y="-89210"/>
            <a:ext cx="5476351" cy="6986528"/>
          </a:xfrm>
          <a:prstGeom prst="rect">
            <a:avLst/>
          </a:prstGeom>
        </p:spPr>
      </p:pic>
    </p:spTree>
    <p:extLst>
      <p:ext uri="{BB962C8B-B14F-4D97-AF65-F5344CB8AC3E}">
        <p14:creationId xmlns:p14="http://schemas.microsoft.com/office/powerpoint/2010/main" val="8887902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9000">
        <p159:morph option="byObject"/>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 calcmode="lin" valueType="num">
                                      <p:cBhvr additive="base">
                                        <p:cTn id="16"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 calcmode="lin" valueType="num">
                                      <p:cBhvr additive="base">
                                        <p:cTn id="2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 calcmode="lin" valueType="num">
                                      <p:cBhvr additive="base">
                                        <p:cTn id="24"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 calcmode="lin" valueType="num">
                                      <p:cBhvr additive="base">
                                        <p:cTn id="28"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3334F2-E108-98DB-879F-6F54E2424AAD}"/>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5BF4B48D-3CC0-3C44-088F-BF1399C66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0F44E9A1-CB0C-D2A8-190F-F7D37B1F29F8}"/>
              </a:ext>
            </a:extLst>
          </p:cNvPr>
          <p:cNvPicPr>
            <a:picLocks noChangeAspect="1"/>
          </p:cNvPicPr>
          <p:nvPr/>
        </p:nvPicPr>
        <p:blipFill>
          <a:blip r:embed="rId2"/>
          <a:srcRect l="55915" t="-1" r="425" b="-1"/>
          <a:stretch>
            <a:fillRect/>
          </a:stretch>
        </p:blipFill>
        <p:spPr>
          <a:xfrm>
            <a:off x="1" y="1282"/>
            <a:ext cx="12190476" cy="6856718"/>
          </a:xfrm>
          <a:prstGeom prst="rect">
            <a:avLst/>
          </a:prstGeom>
        </p:spPr>
      </p:pic>
      <p:sp>
        <p:nvSpPr>
          <p:cNvPr id="28" name="TextBox 27">
            <a:extLst>
              <a:ext uri="{FF2B5EF4-FFF2-40B4-BE49-F238E27FC236}">
                <a16:creationId xmlns:a16="http://schemas.microsoft.com/office/drawing/2014/main" id="{7D0236E8-4918-E2F7-D61F-980D25BB8D0E}"/>
              </a:ext>
            </a:extLst>
          </p:cNvPr>
          <p:cNvSpPr txBox="1"/>
          <p:nvPr/>
        </p:nvSpPr>
        <p:spPr>
          <a:xfrm>
            <a:off x="-13524" y="-1282"/>
            <a:ext cx="12204000" cy="6858000"/>
          </a:xfrm>
          <a:prstGeom prst="rect">
            <a:avLst/>
          </a:prstGeom>
          <a:solidFill>
            <a:schemeClr val="accent4">
              <a:alpha val="50000"/>
            </a:schemeClr>
          </a:solidFill>
          <a:ln>
            <a:noFill/>
          </a:ln>
          <a:effectLst>
            <a:glow rad="101600">
              <a:schemeClr val="accent1">
                <a:satMod val="175000"/>
                <a:alpha val="40000"/>
              </a:schemeClr>
            </a:glow>
          </a:effectLst>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3" name="TextBox 2">
            <a:extLst>
              <a:ext uri="{FF2B5EF4-FFF2-40B4-BE49-F238E27FC236}">
                <a16:creationId xmlns:a16="http://schemas.microsoft.com/office/drawing/2014/main" id="{BA684F7D-A101-6A12-B9D7-C467EA944289}"/>
              </a:ext>
            </a:extLst>
          </p:cNvPr>
          <p:cNvSpPr txBox="1"/>
          <p:nvPr/>
        </p:nvSpPr>
        <p:spPr>
          <a:xfrm>
            <a:off x="146305" y="-6699"/>
            <a:ext cx="12192000" cy="6863417"/>
          </a:xfrm>
          <a:prstGeom prst="rect">
            <a:avLst/>
          </a:prstGeom>
          <a:noFill/>
        </p:spPr>
        <p:txBody>
          <a:bodyPr wrap="square" rtlCol="0">
            <a:spAutoFit/>
          </a:bodyPr>
          <a:lstStyle/>
          <a:p>
            <a:pPr lvl="1" algn="r" rtl="1"/>
            <a:r>
              <a:rPr lang="en-US" sz="8800" b="1" dirty="0"/>
              <a:t>3</a:t>
            </a:r>
            <a:r>
              <a:rPr lang="ar-EG" sz="8800" b="1" dirty="0"/>
              <a:t>.طرق حماية الطبيعة:</a:t>
            </a:r>
          </a:p>
          <a:p>
            <a:pPr lvl="1" algn="r" rtl="1">
              <a:buFont typeface="Arial" panose="020B0604020202020204" pitchFamily="34" charset="0"/>
              <a:buChar char="•"/>
            </a:pPr>
            <a:r>
              <a:rPr lang="ar-EG" sz="8800" dirty="0"/>
              <a:t>عدم رمي المخلفات </a:t>
            </a:r>
          </a:p>
          <a:p>
            <a:pPr lvl="1" algn="r" rtl="1">
              <a:buFont typeface="Arial" panose="020B0604020202020204" pitchFamily="34" charset="0"/>
              <a:buChar char="•"/>
            </a:pPr>
            <a:r>
              <a:rPr lang="ar-EG" sz="8800" dirty="0"/>
              <a:t>تقليل التلوث </a:t>
            </a:r>
          </a:p>
          <a:p>
            <a:pPr lvl="1" algn="r" rtl="1">
              <a:buFont typeface="Arial" panose="020B0604020202020204" pitchFamily="34" charset="0"/>
              <a:buChar char="•"/>
            </a:pPr>
            <a:r>
              <a:rPr lang="ar-EG" sz="8800" dirty="0"/>
              <a:t>زراعة الأشجار </a:t>
            </a:r>
          </a:p>
          <a:p>
            <a:pPr lvl="1" algn="r" rtl="1">
              <a:buFont typeface="Arial" panose="020B0604020202020204" pitchFamily="34" charset="0"/>
              <a:buChar char="•"/>
            </a:pPr>
            <a:r>
              <a:rPr lang="ar-EG" sz="8800" dirty="0"/>
              <a:t>ترشيد استهلاك المياة</a:t>
            </a:r>
            <a:endParaRPr lang="ar-EG" dirty="0"/>
          </a:p>
        </p:txBody>
      </p:sp>
    </p:spTree>
    <p:extLst>
      <p:ext uri="{BB962C8B-B14F-4D97-AF65-F5344CB8AC3E}">
        <p14:creationId xmlns:p14="http://schemas.microsoft.com/office/powerpoint/2010/main" val="39557824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9000">
        <p159:morph option="byObject"/>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3701A1-61FA-B752-493E-ABF05DBF7A97}"/>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8E73F17E-F30E-22FF-37D0-B40FA07D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771A8C0F-6D09-325E-A37E-A9189C8620D7}"/>
              </a:ext>
            </a:extLst>
          </p:cNvPr>
          <p:cNvPicPr>
            <a:picLocks noChangeAspect="1"/>
          </p:cNvPicPr>
          <p:nvPr/>
        </p:nvPicPr>
        <p:blipFill>
          <a:blip r:embed="rId2"/>
          <a:srcRect t="-1" r="425" b="53188"/>
          <a:stretch>
            <a:fillRect/>
          </a:stretch>
        </p:blipFill>
        <p:spPr>
          <a:xfrm>
            <a:off x="14197" y="0"/>
            <a:ext cx="12191980" cy="6858000"/>
          </a:xfrm>
          <a:prstGeom prst="rect">
            <a:avLst/>
          </a:prstGeom>
        </p:spPr>
      </p:pic>
      <p:sp>
        <p:nvSpPr>
          <p:cNvPr id="28" name="TextBox 27">
            <a:extLst>
              <a:ext uri="{FF2B5EF4-FFF2-40B4-BE49-F238E27FC236}">
                <a16:creationId xmlns:a16="http://schemas.microsoft.com/office/drawing/2014/main" id="{4131A6E7-120A-2859-B0B0-18AB52191FEA}"/>
              </a:ext>
            </a:extLst>
          </p:cNvPr>
          <p:cNvSpPr txBox="1"/>
          <p:nvPr/>
        </p:nvSpPr>
        <p:spPr>
          <a:xfrm>
            <a:off x="-26197" y="0"/>
            <a:ext cx="12204000" cy="6858000"/>
          </a:xfrm>
          <a:prstGeom prst="rect">
            <a:avLst/>
          </a:prstGeom>
          <a:solidFill>
            <a:schemeClr val="accent4">
              <a:alpha val="50000"/>
            </a:schemeClr>
          </a:solidFill>
          <a:ln>
            <a:noFill/>
          </a:ln>
          <a:effectLst>
            <a:glow rad="101600">
              <a:schemeClr val="accent1">
                <a:satMod val="175000"/>
                <a:alpha val="40000"/>
              </a:schemeClr>
            </a:glow>
          </a:effectLst>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3" name="TextBox 2">
            <a:extLst>
              <a:ext uri="{FF2B5EF4-FFF2-40B4-BE49-F238E27FC236}">
                <a16:creationId xmlns:a16="http://schemas.microsoft.com/office/drawing/2014/main" id="{007311B2-1609-CCEE-1B79-0612BC6D5BE8}"/>
              </a:ext>
            </a:extLst>
          </p:cNvPr>
          <p:cNvSpPr txBox="1"/>
          <p:nvPr/>
        </p:nvSpPr>
        <p:spPr>
          <a:xfrm>
            <a:off x="2049518" y="0"/>
            <a:ext cx="9995338" cy="7109639"/>
          </a:xfrm>
          <a:prstGeom prst="rect">
            <a:avLst/>
          </a:prstGeom>
          <a:noFill/>
        </p:spPr>
        <p:txBody>
          <a:bodyPr wrap="square" rtlCol="0">
            <a:spAutoFit/>
          </a:bodyPr>
          <a:lstStyle/>
          <a:p>
            <a:pPr algn="r" rtl="1">
              <a:buNone/>
            </a:pPr>
            <a:r>
              <a:rPr lang="ar-EG" sz="6000" b="1" dirty="0"/>
              <a:t>4.جمال الطبيعة:</a:t>
            </a:r>
            <a:endParaRPr lang="ar-EG" sz="6000" dirty="0"/>
          </a:p>
          <a:p>
            <a:pPr algn="r" rtl="1">
              <a:buFont typeface="Arial" panose="020B0604020202020204" pitchFamily="34" charset="0"/>
              <a:buChar char="•"/>
            </a:pPr>
            <a:r>
              <a:rPr lang="ar-EG" sz="6600" dirty="0"/>
              <a:t>مناظر خلابة </a:t>
            </a:r>
          </a:p>
          <a:p>
            <a:pPr algn="r" rtl="1">
              <a:buFont typeface="Arial" panose="020B0604020202020204" pitchFamily="34" charset="0"/>
              <a:buChar char="•"/>
            </a:pPr>
            <a:r>
              <a:rPr lang="ar-EG" sz="6600" dirty="0"/>
              <a:t>ألوان جميلة </a:t>
            </a:r>
          </a:p>
          <a:p>
            <a:pPr algn="r" rtl="1">
              <a:buFont typeface="Arial" panose="020B0604020202020204" pitchFamily="34" charset="0"/>
              <a:buChar char="•"/>
            </a:pPr>
            <a:r>
              <a:rPr lang="ar-EG" sz="6600" dirty="0"/>
              <a:t>تبعث الراحة والهدوء </a:t>
            </a:r>
          </a:p>
          <a:p>
            <a:pPr algn="r" rtl="1">
              <a:buNone/>
            </a:pPr>
            <a:r>
              <a:rPr lang="ar-EG" sz="6600" b="1" dirty="0"/>
              <a:t>5.دور الإنسان:</a:t>
            </a:r>
            <a:endParaRPr lang="ar-EG" sz="6600" dirty="0"/>
          </a:p>
          <a:p>
            <a:pPr algn="r" rtl="1">
              <a:buFont typeface="Arial" panose="020B0604020202020204" pitchFamily="34" charset="0"/>
              <a:buChar char="•"/>
            </a:pPr>
            <a:r>
              <a:rPr lang="ar-EG" sz="6600" dirty="0"/>
              <a:t>حماية البيئة </a:t>
            </a:r>
          </a:p>
          <a:p>
            <a:pPr algn="r" rtl="1">
              <a:buFont typeface="Arial" panose="020B0604020202020204" pitchFamily="34" charset="0"/>
              <a:buChar char="•"/>
            </a:pPr>
            <a:r>
              <a:rPr lang="ar-EG" sz="6600" dirty="0"/>
              <a:t>عدم التلوث</a:t>
            </a:r>
          </a:p>
        </p:txBody>
      </p:sp>
      <p:pic>
        <p:nvPicPr>
          <p:cNvPr id="5" name="Picture 4">
            <a:extLst>
              <a:ext uri="{FF2B5EF4-FFF2-40B4-BE49-F238E27FC236}">
                <a16:creationId xmlns:a16="http://schemas.microsoft.com/office/drawing/2014/main" id="{24E1E0BD-8D20-1822-98D3-EE75134B5FF9}"/>
              </a:ext>
            </a:extLst>
          </p:cNvPr>
          <p:cNvPicPr>
            <a:picLocks noChangeAspect="1"/>
          </p:cNvPicPr>
          <p:nvPr/>
        </p:nvPicPr>
        <p:blipFill>
          <a:blip r:embed="rId3"/>
          <a:stretch>
            <a:fillRect/>
          </a:stretch>
        </p:blipFill>
        <p:spPr>
          <a:xfrm>
            <a:off x="-14177" y="0"/>
            <a:ext cx="5982898" cy="6858000"/>
          </a:xfrm>
          <a:prstGeom prst="rect">
            <a:avLst/>
          </a:prstGeom>
        </p:spPr>
      </p:pic>
    </p:spTree>
    <p:extLst>
      <p:ext uri="{BB962C8B-B14F-4D97-AF65-F5344CB8AC3E}">
        <p14:creationId xmlns:p14="http://schemas.microsoft.com/office/powerpoint/2010/main" val="1462447765"/>
      </p:ext>
    </p:extLst>
  </p:cSld>
  <p:clrMapOvr>
    <a:masterClrMapping/>
  </p:clrMapOvr>
  <p:transition spd="slow" advClick="0" advTm="9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33AB35-61B3-B205-A6AA-FEE6D030B371}"/>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5C11CB22-C390-24CC-DC65-E058CB63F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6EC1D20A-85AB-FF7E-BA4F-055AB96E67F0}"/>
              </a:ext>
            </a:extLst>
          </p:cNvPr>
          <p:cNvPicPr>
            <a:picLocks noChangeAspect="1"/>
          </p:cNvPicPr>
          <p:nvPr/>
        </p:nvPicPr>
        <p:blipFill>
          <a:blip r:embed="rId2"/>
          <a:srcRect r="425" b="-1"/>
          <a:stretch>
            <a:fillRect/>
          </a:stretch>
        </p:blipFill>
        <p:spPr>
          <a:xfrm>
            <a:off x="20" y="1282"/>
            <a:ext cx="12191980" cy="6856718"/>
          </a:xfrm>
          <a:prstGeom prst="rect">
            <a:avLst/>
          </a:prstGeom>
        </p:spPr>
      </p:pic>
      <p:sp>
        <p:nvSpPr>
          <p:cNvPr id="28" name="TextBox 27">
            <a:extLst>
              <a:ext uri="{FF2B5EF4-FFF2-40B4-BE49-F238E27FC236}">
                <a16:creationId xmlns:a16="http://schemas.microsoft.com/office/drawing/2014/main" id="{9DD11D43-E36F-1382-F4D2-B3EC3AF6621F}"/>
              </a:ext>
            </a:extLst>
          </p:cNvPr>
          <p:cNvSpPr txBox="1"/>
          <p:nvPr/>
        </p:nvSpPr>
        <p:spPr>
          <a:xfrm>
            <a:off x="762" y="0"/>
            <a:ext cx="12204000" cy="6858000"/>
          </a:xfrm>
          <a:prstGeom prst="rect">
            <a:avLst/>
          </a:prstGeom>
          <a:solidFill>
            <a:schemeClr val="accent4">
              <a:alpha val="50000"/>
            </a:schemeClr>
          </a:solidFill>
          <a:ln>
            <a:noFill/>
          </a:ln>
          <a:effectLst>
            <a:glow rad="101600">
              <a:schemeClr val="accent1">
                <a:satMod val="175000"/>
                <a:alpha val="40000"/>
              </a:schemeClr>
            </a:glow>
          </a:effectLst>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3" name="TextBox 2">
            <a:extLst>
              <a:ext uri="{FF2B5EF4-FFF2-40B4-BE49-F238E27FC236}">
                <a16:creationId xmlns:a16="http://schemas.microsoft.com/office/drawing/2014/main" id="{437178F7-D096-20CA-B19B-9715520C4AD1}"/>
              </a:ext>
            </a:extLst>
          </p:cNvPr>
          <p:cNvSpPr txBox="1"/>
          <p:nvPr/>
        </p:nvSpPr>
        <p:spPr>
          <a:xfrm flipH="1">
            <a:off x="0" y="1190087"/>
            <a:ext cx="12108263" cy="4401205"/>
          </a:xfrm>
          <a:prstGeom prst="rect">
            <a:avLst/>
          </a:prstGeom>
          <a:noFill/>
        </p:spPr>
        <p:txBody>
          <a:bodyPr wrap="square" rtlCol="0">
            <a:spAutoFit/>
          </a:bodyPr>
          <a:lstStyle/>
          <a:p>
            <a:pPr algn="r">
              <a:buNone/>
            </a:pPr>
            <a:r>
              <a:rPr lang="ar-EG" sz="6000" b="1" dirty="0"/>
              <a:t>الخاتمة</a:t>
            </a:r>
            <a:r>
              <a:rPr lang="ar-EG" sz="8800" b="1" dirty="0"/>
              <a:t>:</a:t>
            </a:r>
            <a:br>
              <a:rPr lang="ar-EG" dirty="0"/>
            </a:br>
            <a:r>
              <a:rPr lang="ar-EG" sz="4800" dirty="0"/>
              <a:t>في النهاية، تظل الطبيعة أجمل ما يحيط بنا وأهم ما نملكه في حياتنا، فهي مصدر الجمال والراحة والغذاء. لذلك يجب علينا جميعًا أن نحافظ عليها ونحميها من التلوث، لأن الحفاظ على الطبيعة هو حفاظ على حياتنا ومستقبل الأجيال القادمة</a:t>
            </a:r>
            <a:endParaRPr lang="en-US" dirty="0"/>
          </a:p>
        </p:txBody>
      </p:sp>
    </p:spTree>
    <p:extLst>
      <p:ext uri="{BB962C8B-B14F-4D97-AF65-F5344CB8AC3E}">
        <p14:creationId xmlns:p14="http://schemas.microsoft.com/office/powerpoint/2010/main" val="9146297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9000">
        <p159:morph option="byObject"/>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113</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es-Mina.Tawfik2026</dc:creator>
  <cp:lastModifiedBy>es-Mina.Tawfik2026</cp:lastModifiedBy>
  <cp:revision>1</cp:revision>
  <dcterms:created xsi:type="dcterms:W3CDTF">2026-03-23T11:47:26Z</dcterms:created>
  <dcterms:modified xsi:type="dcterms:W3CDTF">2026-03-23T13:39:58Z</dcterms:modified>
</cp:coreProperties>
</file>